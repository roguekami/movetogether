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59" r:id="rId4"/>
    <p:sldId id="260" r:id="rId5"/>
    <p:sldId id="272" r:id="rId6"/>
    <p:sldId id="273" r:id="rId7"/>
    <p:sldId id="271" r:id="rId8"/>
    <p:sldId id="261" r:id="rId9"/>
    <p:sldId id="284" r:id="rId10"/>
    <p:sldId id="285" r:id="rId11"/>
    <p:sldId id="286" r:id="rId12"/>
    <p:sldId id="287" r:id="rId13"/>
    <p:sldId id="288" r:id="rId14"/>
    <p:sldId id="289" r:id="rId15"/>
    <p:sldId id="262" r:id="rId16"/>
    <p:sldId id="263" r:id="rId17"/>
    <p:sldId id="264" r:id="rId18"/>
    <p:sldId id="302" r:id="rId19"/>
    <p:sldId id="281" r:id="rId20"/>
    <p:sldId id="265" r:id="rId21"/>
    <p:sldId id="279" r:id="rId22"/>
    <p:sldId id="280" r:id="rId23"/>
    <p:sldId id="274" r:id="rId24"/>
    <p:sldId id="282" r:id="rId25"/>
    <p:sldId id="283" r:id="rId26"/>
    <p:sldId id="305" r:id="rId27"/>
    <p:sldId id="306" r:id="rId28"/>
    <p:sldId id="27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1" d="100"/>
          <a:sy n="91" d="100"/>
        </p:scale>
        <p:origin x="-786" y="84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59A8CB-772C-4C0E-AA52-DBC5FC8E25F2}" type="datetimeFigureOut">
              <a:rPr lang="en-US" smtClean="0"/>
              <a:pPr/>
              <a:t>1/7/2026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C7AC54-999C-4FAA-87D1-C3B4AF134B01}" type="slidenum">
              <a:rPr lang="en-GB" smtClean="0"/>
              <a:pPr/>
              <a:t>‹#›</a:t>
            </a:fld>
            <a:endParaRPr lang="en-GB"/>
          </a:p>
        </p:txBody>
      </p:sp>
    </p:spTree>
    <p:extLst>
      <p:ext uri="{BB962C8B-B14F-4D97-AF65-F5344CB8AC3E}">
        <p14:creationId xmlns:p14="http://schemas.microsoft.com/office/powerpoint/2010/main" val="1347228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C7AC54-999C-4FAA-87D1-C3B4AF134B01}" type="slidenum">
              <a:rPr lang="en-GB" smtClean="0"/>
              <a:pPr/>
              <a:t>1</a:t>
            </a:fld>
            <a:endParaRPr lang="en-GB"/>
          </a:p>
        </p:txBody>
      </p:sp>
    </p:spTree>
    <p:extLst>
      <p:ext uri="{BB962C8B-B14F-4D97-AF65-F5344CB8AC3E}">
        <p14:creationId xmlns:p14="http://schemas.microsoft.com/office/powerpoint/2010/main" val="234800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4A604E7-AE00-4F60-AB95-0FFE04B53438}" type="datetimeFigureOut">
              <a:rPr lang="en-US" smtClean="0"/>
              <a:pPr/>
              <a:t>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A604E7-AE00-4F60-AB95-0FFE04B53438}" type="datetimeFigureOut">
              <a:rPr lang="en-US" smtClean="0"/>
              <a:pPr/>
              <a:t>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A604E7-AE00-4F60-AB95-0FFE04B53438}" type="datetimeFigureOut">
              <a:rPr lang="en-US" smtClean="0"/>
              <a:pPr/>
              <a:t>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4A604E7-AE00-4F60-AB95-0FFE04B53438}" type="datetimeFigureOut">
              <a:rPr lang="en-US" smtClean="0"/>
              <a:pPr/>
              <a:t>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4A604E7-AE00-4F60-AB95-0FFE04B53438}" type="datetimeFigureOut">
              <a:rPr lang="en-US" smtClean="0"/>
              <a:pPr/>
              <a:t>1/7/2026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4A604E7-AE00-4F60-AB95-0FFE04B53438}" type="datetimeFigureOut">
              <a:rPr lang="en-US" smtClean="0"/>
              <a:pPr/>
              <a:t>1/7/2026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604E7-AE00-4F60-AB95-0FFE04B53438}" type="datetimeFigureOut">
              <a:rPr lang="en-US" smtClean="0"/>
              <a:pPr/>
              <a:t>1/7/2026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A604E7-AE00-4F60-AB95-0FFE04B53438}" type="datetimeFigureOut">
              <a:rPr lang="en-US" smtClean="0"/>
              <a:pPr/>
              <a:t>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A604E7-AE00-4F60-AB95-0FFE04B53438}" type="datetimeFigureOut">
              <a:rPr lang="en-US" smtClean="0"/>
              <a:pPr/>
              <a:t>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A604E7-AE00-4F60-AB95-0FFE04B53438}" type="datetimeFigureOut">
              <a:rPr lang="en-US" smtClean="0"/>
              <a:pPr/>
              <a:t>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4A604E7-AE00-4F60-AB95-0FFE04B53438}" type="datetimeFigureOut">
              <a:rPr lang="en-US" smtClean="0"/>
              <a:pPr/>
              <a:t>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CEA0A9-40C6-47DF-8C70-A51D318C9A6B}"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604E7-AE00-4F60-AB95-0FFE04B53438}" type="datetimeFigureOut">
              <a:rPr lang="en-US" smtClean="0"/>
              <a:pPr/>
              <a:t>1/7/2026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EA0A9-40C6-47DF-8C70-A51D318C9A6B}"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40768"/>
            <a:ext cx="7772400" cy="1296144"/>
          </a:xfrm>
        </p:spPr>
        <p:txBody>
          <a:bodyPr>
            <a:normAutofit/>
          </a:bodyPr>
          <a:lstStyle/>
          <a:p>
            <a:r>
              <a:rPr lang="en-GB" sz="2400" dirty="0"/>
              <a:t>PROJECT GUIDE</a:t>
            </a:r>
          </a:p>
        </p:txBody>
      </p:sp>
      <p:sp>
        <p:nvSpPr>
          <p:cNvPr id="3" name="Subtitle 2"/>
          <p:cNvSpPr>
            <a:spLocks noGrp="1"/>
          </p:cNvSpPr>
          <p:nvPr>
            <p:ph type="subTitle" idx="1"/>
          </p:nvPr>
        </p:nvSpPr>
        <p:spPr>
          <a:xfrm>
            <a:off x="785786" y="3212976"/>
            <a:ext cx="7786742" cy="2160240"/>
          </a:xfrm>
        </p:spPr>
        <p:txBody>
          <a:bodyPr>
            <a:normAutofit/>
          </a:bodyPr>
          <a:lstStyle/>
          <a:p>
            <a:r>
              <a:rPr lang="en-GB" sz="2000" dirty="0">
                <a:solidFill>
                  <a:schemeClr val="tx1"/>
                </a:solidFill>
              </a:rPr>
              <a:t>A VIEW INTO PROJECT CONCEPTUAL FRAMEWORK AND ITS STANDARDIZATION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CHOICE OF TOPIC</a:t>
            </a:r>
          </a:p>
        </p:txBody>
      </p:sp>
      <p:sp>
        <p:nvSpPr>
          <p:cNvPr id="3" name="Content Placeholder 2"/>
          <p:cNvSpPr>
            <a:spLocks noGrp="1"/>
          </p:cNvSpPr>
          <p:nvPr>
            <p:ph idx="1"/>
          </p:nvPr>
        </p:nvSpPr>
        <p:spPr/>
        <p:txBody>
          <a:bodyPr/>
          <a:lstStyle/>
          <a:p>
            <a:pPr lvl="0">
              <a:buNone/>
            </a:pPr>
            <a:endParaRPr lang="en-GB" dirty="0">
              <a:latin typeface="+mj-lt"/>
            </a:endParaRPr>
          </a:p>
          <a:p>
            <a:pPr lvl="0" algn="just">
              <a:buNone/>
            </a:pPr>
            <a:r>
              <a:rPr lang="en-GB" sz="2000" dirty="0">
                <a:latin typeface="+mj-lt"/>
              </a:rPr>
              <a:t>(1) </a:t>
            </a:r>
            <a:r>
              <a:rPr lang="en-GB" sz="2000" dirty="0"/>
              <a:t>What is the rationale for the choice of your   topic?</a:t>
            </a:r>
          </a:p>
          <a:p>
            <a:pPr algn="just">
              <a:buNone/>
            </a:pPr>
            <a:endParaRPr lang="en-GB" sz="2000" dirty="0"/>
          </a:p>
          <a:p>
            <a:pPr algn="just">
              <a:buNone/>
            </a:pPr>
            <a:r>
              <a:rPr lang="en-GB" sz="2000" dirty="0"/>
              <a:t>(2) What is your motivation for taking up this topic?   </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TEMPLATE FOR WRITING RESEARCH PROJECT (UNDERGRADUATE)</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GB" sz="2000" dirty="0"/>
              <a:t>PRELIMINARY PAGES</a:t>
            </a:r>
          </a:p>
          <a:p>
            <a:pPr marL="514350" indent="-514350" algn="just">
              <a:buFont typeface="+mj-lt"/>
              <a:buAutoNum type="arabicPeriod"/>
            </a:pPr>
            <a:r>
              <a:rPr lang="en-GB" sz="2000" dirty="0"/>
              <a:t>CHAPTER ONE: INTRODUCTION </a:t>
            </a:r>
          </a:p>
          <a:p>
            <a:pPr marL="514350" indent="-514350" algn="just">
              <a:buFont typeface="+mj-lt"/>
              <a:buAutoNum type="arabicPeriod"/>
            </a:pPr>
            <a:r>
              <a:rPr lang="en-GB" sz="2000" dirty="0"/>
              <a:t>CHAPTER TWO: LITERATURE REVIEW</a:t>
            </a:r>
          </a:p>
          <a:p>
            <a:pPr marL="514350" indent="-514350" algn="just">
              <a:buFont typeface="+mj-lt"/>
              <a:buAutoNum type="arabicPeriod"/>
            </a:pPr>
            <a:r>
              <a:rPr lang="en-GB" sz="2000" dirty="0"/>
              <a:t>CHAPTER THREE: METHODOLOGY</a:t>
            </a:r>
          </a:p>
          <a:p>
            <a:pPr marL="514350" indent="-514350" algn="just">
              <a:buFont typeface="+mj-lt"/>
              <a:buAutoNum type="arabicPeriod"/>
            </a:pPr>
            <a:r>
              <a:rPr lang="en-GB" sz="2000" dirty="0"/>
              <a:t>CHAPTER FOUR: IMPLEMENTATION/DISCUSSION</a:t>
            </a:r>
          </a:p>
          <a:p>
            <a:pPr marL="514350" indent="-514350" algn="just">
              <a:buFont typeface="+mj-lt"/>
              <a:buAutoNum type="arabicPeriod"/>
            </a:pPr>
            <a:r>
              <a:rPr lang="en-GB" sz="2000" dirty="0"/>
              <a:t>CHAPTER FIVE: SUMMARY, CONCLUSION AND RECOMMENDATIONS</a:t>
            </a:r>
          </a:p>
          <a:p>
            <a:pPr marL="514350" indent="-514350" algn="just">
              <a:buFont typeface="+mj-lt"/>
              <a:buAutoNum type="arabicPeriod"/>
            </a:pPr>
            <a:r>
              <a:rPr lang="en-GB" sz="2000" dirty="0"/>
              <a:t>REFERENCES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sz="2400" dirty="0"/>
              <a:t>PRELIMINARY PAGES</a:t>
            </a:r>
            <a:br>
              <a:rPr lang="en-GB" sz="2400" dirty="0"/>
            </a:br>
            <a:endParaRPr lang="en-GB" sz="2400" dirty="0"/>
          </a:p>
        </p:txBody>
      </p:sp>
      <p:sp>
        <p:nvSpPr>
          <p:cNvPr id="3" name="Content Placeholder 2"/>
          <p:cNvSpPr>
            <a:spLocks noGrp="1"/>
          </p:cNvSpPr>
          <p:nvPr>
            <p:ph idx="1"/>
          </p:nvPr>
        </p:nvSpPr>
        <p:spPr>
          <a:xfrm>
            <a:off x="457200" y="1071546"/>
            <a:ext cx="8229600" cy="5054617"/>
          </a:xfrm>
        </p:spPr>
        <p:txBody>
          <a:bodyPr>
            <a:normAutofit/>
          </a:bodyPr>
          <a:lstStyle/>
          <a:p>
            <a:pPr marL="514350" indent="-514350" algn="just">
              <a:buFont typeface="+mj-lt"/>
              <a:buAutoNum type="alphaLcPeriod"/>
            </a:pPr>
            <a:r>
              <a:rPr lang="en-US" sz="2200" dirty="0"/>
              <a:t>COVER PAGE</a:t>
            </a:r>
          </a:p>
          <a:p>
            <a:pPr marL="514350" indent="-514350" algn="just">
              <a:buFont typeface="+mj-lt"/>
              <a:buAutoNum type="alphaLcPeriod"/>
            </a:pPr>
            <a:r>
              <a:rPr lang="en-US" sz="2200" dirty="0"/>
              <a:t>TITLE PAGE (</a:t>
            </a:r>
            <a:r>
              <a:rPr lang="en-US" sz="2200" dirty="0" err="1"/>
              <a:t>i</a:t>
            </a:r>
            <a:r>
              <a:rPr lang="en-US" sz="2200" dirty="0"/>
              <a:t>)</a:t>
            </a:r>
          </a:p>
          <a:p>
            <a:pPr marL="514350" indent="-514350" algn="just">
              <a:buFont typeface="+mj-lt"/>
              <a:buAutoNum type="alphaLcPeriod"/>
            </a:pPr>
            <a:r>
              <a:rPr lang="en-US" sz="2200" dirty="0"/>
              <a:t>DECLARATION:   (ii)</a:t>
            </a:r>
          </a:p>
          <a:p>
            <a:pPr marL="514350" indent="-514350" algn="just">
              <a:buFont typeface="+mj-lt"/>
              <a:buAutoNum type="alphaLcPeriod"/>
            </a:pPr>
            <a:r>
              <a:rPr lang="en-US" sz="2200" dirty="0"/>
              <a:t>CERTIFICATION: (iii)</a:t>
            </a:r>
          </a:p>
          <a:p>
            <a:pPr marL="514350" indent="-514350" algn="just">
              <a:buFont typeface="+mj-lt"/>
              <a:buAutoNum type="alphaLcPeriod"/>
            </a:pPr>
            <a:r>
              <a:rPr lang="en-US" sz="2200" dirty="0"/>
              <a:t>APPROVAL : (iv)</a:t>
            </a:r>
            <a:endParaRPr lang="en-GB" sz="2200" dirty="0"/>
          </a:p>
          <a:p>
            <a:pPr marL="514350" indent="-514350" algn="just">
              <a:buFont typeface="+mj-lt"/>
              <a:buAutoNum type="alphaLcPeriod"/>
            </a:pPr>
            <a:r>
              <a:rPr lang="en-US" sz="2200" dirty="0"/>
              <a:t>DEDICATION: (v)</a:t>
            </a:r>
            <a:endParaRPr lang="en-GB" sz="2200" dirty="0"/>
          </a:p>
          <a:p>
            <a:pPr marL="514350" indent="-514350" algn="just">
              <a:buFont typeface="+mj-lt"/>
              <a:buAutoNum type="alphaLcPeriod"/>
            </a:pPr>
            <a:r>
              <a:rPr lang="en-US" sz="2200" dirty="0"/>
              <a:t>ACKNOWLEDGEMENTS: (vi)</a:t>
            </a:r>
            <a:endParaRPr lang="en-GB" sz="2200" dirty="0"/>
          </a:p>
          <a:p>
            <a:pPr marL="514350" indent="-514350" algn="just">
              <a:buFont typeface="+mj-lt"/>
              <a:buAutoNum type="alphaLcPeriod"/>
            </a:pPr>
            <a:r>
              <a:rPr lang="en-US" sz="2200" dirty="0"/>
              <a:t>ABSTRACT: (vii)</a:t>
            </a:r>
          </a:p>
          <a:p>
            <a:pPr marL="514350" indent="-514350" algn="just">
              <a:buFont typeface="+mj-lt"/>
              <a:buAutoNum type="alphaLcPeriod"/>
            </a:pPr>
            <a:r>
              <a:rPr lang="en-US" sz="2200" dirty="0"/>
              <a:t>TABLE OF CONTENTS: (viii)</a:t>
            </a:r>
          </a:p>
          <a:p>
            <a:pPr marL="514350" indent="-514350" algn="just">
              <a:buFont typeface="+mj-lt"/>
              <a:buAutoNum type="alphaLcPeriod"/>
            </a:pPr>
            <a:r>
              <a:rPr lang="en-US" sz="2200" dirty="0"/>
              <a:t>LIST OF FIGURES</a:t>
            </a:r>
          </a:p>
          <a:p>
            <a:pPr marL="514350" indent="-514350" algn="just">
              <a:buFont typeface="+mj-lt"/>
              <a:buAutoNum type="alphaLcPeriod"/>
            </a:pPr>
            <a:r>
              <a:rPr lang="en-US" sz="2200" dirty="0"/>
              <a:t>LIST OF TABLES</a:t>
            </a:r>
          </a:p>
          <a:p>
            <a:endParaRPr lang="en-GB" dirty="0"/>
          </a:p>
          <a:p>
            <a:pPr>
              <a:buNone/>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COVER PAGE</a:t>
            </a:r>
          </a:p>
        </p:txBody>
      </p:sp>
      <p:sp>
        <p:nvSpPr>
          <p:cNvPr id="3" name="Content Placeholder 2"/>
          <p:cNvSpPr>
            <a:spLocks noGrp="1"/>
          </p:cNvSpPr>
          <p:nvPr>
            <p:ph idx="1"/>
          </p:nvPr>
        </p:nvSpPr>
        <p:spPr>
          <a:xfrm>
            <a:off x="857224" y="1643050"/>
            <a:ext cx="7372376" cy="4525963"/>
          </a:xfrm>
        </p:spPr>
        <p:txBody>
          <a:bodyPr>
            <a:normAutofit fontScale="62500" lnSpcReduction="20000"/>
          </a:bodyPr>
          <a:lstStyle/>
          <a:p>
            <a:pPr algn="ctr">
              <a:buNone/>
            </a:pPr>
            <a:r>
              <a:rPr lang="en-GB" dirty="0"/>
              <a:t>DEVELOPMENT OF A DIGITALIZED RESPONSIVE LOGICAL INTERFACE</a:t>
            </a:r>
          </a:p>
          <a:p>
            <a:pPr>
              <a:buNone/>
            </a:pPr>
            <a:endParaRPr lang="en-GB" dirty="0"/>
          </a:p>
          <a:p>
            <a:pPr>
              <a:buNone/>
            </a:pPr>
            <a:endParaRPr lang="en-GB" dirty="0"/>
          </a:p>
          <a:p>
            <a:pPr algn="ctr">
              <a:buNone/>
            </a:pPr>
            <a:r>
              <a:rPr lang="en-GB" dirty="0" smtClean="0"/>
              <a:t>ATIKU ABUBAKA</a:t>
            </a:r>
            <a:endParaRPr lang="en-GB" dirty="0"/>
          </a:p>
          <a:p>
            <a:pPr algn="ctr">
              <a:buNone/>
            </a:pPr>
            <a:r>
              <a:rPr lang="en-GB" dirty="0"/>
              <a:t>SCN/CSC/2XXXXX</a:t>
            </a:r>
          </a:p>
          <a:p>
            <a:pPr algn="ctr">
              <a:buNone/>
            </a:pPr>
            <a:endParaRPr lang="en-GB" dirty="0"/>
          </a:p>
          <a:p>
            <a:pPr algn="ctr">
              <a:buNone/>
            </a:pPr>
            <a:endParaRPr lang="en-GB" dirty="0"/>
          </a:p>
          <a:p>
            <a:pPr algn="ctr">
              <a:buNone/>
            </a:pPr>
            <a:endParaRPr lang="en-GB" dirty="0"/>
          </a:p>
          <a:p>
            <a:pPr algn="ctr">
              <a:buNone/>
            </a:pPr>
            <a:r>
              <a:rPr lang="en-US" dirty="0"/>
              <a:t>DEPARTMENT OF COMPUTER SCIENCE,  FACULTY OF COMPUTING,</a:t>
            </a:r>
            <a:endParaRPr lang="en-GB" dirty="0"/>
          </a:p>
          <a:p>
            <a:pPr algn="ctr">
              <a:buNone/>
            </a:pPr>
            <a:r>
              <a:rPr lang="en-US" dirty="0"/>
              <a:t> BENSON IDAHOSA UNIVERSITY, BENIN CITY, EDO STATE, NIGERIA</a:t>
            </a:r>
          </a:p>
          <a:p>
            <a:pPr algn="ctr">
              <a:buNone/>
            </a:pPr>
            <a:endParaRPr lang="en-GB" dirty="0"/>
          </a:p>
          <a:p>
            <a:pPr algn="ctr">
              <a:buNone/>
            </a:pPr>
            <a:r>
              <a:rPr lang="en-GB" dirty="0"/>
              <a:t>DECEMBER, 2025</a:t>
            </a:r>
          </a:p>
          <a:p>
            <a:pPr>
              <a:buNone/>
            </a:pP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TITLE PAGE</a:t>
            </a:r>
          </a:p>
        </p:txBody>
      </p:sp>
      <p:sp>
        <p:nvSpPr>
          <p:cNvPr id="3" name="Content Placeholder 2"/>
          <p:cNvSpPr>
            <a:spLocks noGrp="1"/>
          </p:cNvSpPr>
          <p:nvPr>
            <p:ph idx="1"/>
          </p:nvPr>
        </p:nvSpPr>
        <p:spPr/>
        <p:txBody>
          <a:bodyPr>
            <a:normAutofit fontScale="85000" lnSpcReduction="20000"/>
          </a:bodyPr>
          <a:lstStyle/>
          <a:p>
            <a:pPr algn="ctr">
              <a:buNone/>
            </a:pPr>
            <a:r>
              <a:rPr lang="en-GB" sz="2600" dirty="0"/>
              <a:t>DEVELOPMENT OF A DIGITALIZED RESPONSIVE LOGICAL INTERFACE</a:t>
            </a:r>
          </a:p>
          <a:p>
            <a:pPr>
              <a:buNone/>
            </a:pPr>
            <a:endParaRPr lang="en-GB" sz="2600" dirty="0"/>
          </a:p>
          <a:p>
            <a:pPr>
              <a:buNone/>
            </a:pPr>
            <a:endParaRPr lang="en-GB" sz="2600" dirty="0"/>
          </a:p>
          <a:p>
            <a:pPr algn="ctr">
              <a:buNone/>
            </a:pPr>
            <a:r>
              <a:rPr lang="en-GB" sz="2600" dirty="0" smtClean="0"/>
              <a:t>ATIKU ABUBAKA</a:t>
            </a:r>
            <a:endParaRPr lang="en-GB" sz="2600" dirty="0"/>
          </a:p>
          <a:p>
            <a:pPr algn="ctr">
              <a:buNone/>
            </a:pPr>
            <a:r>
              <a:rPr lang="en-GB" sz="2600" dirty="0"/>
              <a:t>SCN/CSC/2XXXXX</a:t>
            </a:r>
          </a:p>
          <a:p>
            <a:pPr algn="ctr">
              <a:buNone/>
            </a:pPr>
            <a:endParaRPr lang="en-GB" sz="2600" dirty="0"/>
          </a:p>
          <a:p>
            <a:pPr algn="ctr">
              <a:buNone/>
            </a:pPr>
            <a:r>
              <a:rPr lang="en-US" sz="2600" dirty="0"/>
              <a:t>A PROJECT WORK</a:t>
            </a:r>
            <a:endParaRPr lang="en-GB" sz="2600" dirty="0"/>
          </a:p>
          <a:p>
            <a:pPr algn="ctr">
              <a:buNone/>
            </a:pPr>
            <a:r>
              <a:rPr lang="en-US" sz="2600" dirty="0"/>
              <a:t>PRESENTED TO THE DEPARTMENT OF COMPUTER SCIENCE,  FACULTY OF COMPUTING, IN PARTIAL FULFILMENT OF THE REQUIREMENTS FOR THE AWARD OF BACHELOR DEGREE OF SCIENCE (B.Sc.) IN COMPUTER SCIENCE OF BENSON IDAHOSA UNIVERSITY, BENIN CITY, EDO STATE, NIGERIA</a:t>
            </a:r>
          </a:p>
          <a:p>
            <a:pPr algn="ctr">
              <a:buNone/>
            </a:pPr>
            <a:endParaRPr lang="en-US" sz="2600" dirty="0"/>
          </a:p>
          <a:p>
            <a:pPr algn="ctr">
              <a:buNone/>
            </a:pPr>
            <a:r>
              <a:rPr lang="en-US" sz="2600" dirty="0" smtClean="0"/>
              <a:t>JANUARY, 2026</a:t>
            </a:r>
            <a:endParaRPr lang="en-US" sz="2600" dirty="0"/>
          </a:p>
          <a:p>
            <a:pPr algn="ctr">
              <a:buNone/>
            </a:pPr>
            <a:endParaRPr lang="en-US" sz="2600" dirty="0"/>
          </a:p>
          <a:p>
            <a:pPr algn="ctr">
              <a:buNone/>
            </a:pPr>
            <a:endParaRPr lang="en-US" dirty="0"/>
          </a:p>
          <a:p>
            <a:pPr algn="ctr">
              <a:buNone/>
            </a:pPr>
            <a:endParaRPr lang="en-GB" dirty="0"/>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GB" sz="2400" b="1" dirty="0"/>
              <a:t>ABSTRACT</a:t>
            </a:r>
            <a:endParaRPr lang="en-GB" sz="2400" dirty="0"/>
          </a:p>
        </p:txBody>
      </p:sp>
      <p:sp>
        <p:nvSpPr>
          <p:cNvPr id="3" name="Content Placeholder 2"/>
          <p:cNvSpPr>
            <a:spLocks noGrp="1"/>
          </p:cNvSpPr>
          <p:nvPr>
            <p:ph idx="1"/>
          </p:nvPr>
        </p:nvSpPr>
        <p:spPr>
          <a:xfrm>
            <a:off x="457200" y="980728"/>
            <a:ext cx="8229600" cy="5145435"/>
          </a:xfrm>
        </p:spPr>
        <p:txBody>
          <a:bodyPr>
            <a:normAutofit/>
          </a:bodyPr>
          <a:lstStyle/>
          <a:p>
            <a:pPr lvl="0">
              <a:buNone/>
            </a:pPr>
            <a:r>
              <a:rPr lang="en-GB" sz="2000" b="1" dirty="0" smtClean="0"/>
              <a:t>                An </a:t>
            </a:r>
            <a:r>
              <a:rPr lang="en-GB" sz="2000" b="1" dirty="0"/>
              <a:t>Abstract is a concise summary of your work:</a:t>
            </a:r>
            <a:endParaRPr lang="en-GB" sz="2000" dirty="0"/>
          </a:p>
          <a:p>
            <a:pPr marL="971550" lvl="1" indent="-514350">
              <a:buFont typeface="+mj-lt"/>
              <a:buAutoNum type="arabicPeriod"/>
            </a:pPr>
            <a:endParaRPr lang="en-GB" dirty="0"/>
          </a:p>
          <a:p>
            <a:pPr marL="971550" lvl="1" indent="-514350">
              <a:buFont typeface="+mj-lt"/>
              <a:buAutoNum type="arabicPeriod"/>
            </a:pPr>
            <a:r>
              <a:rPr lang="en-GB" sz="2000" dirty="0"/>
              <a:t>A brief analysis of What you did</a:t>
            </a:r>
          </a:p>
          <a:p>
            <a:pPr marL="971550" lvl="1" indent="-514350">
              <a:buFont typeface="+mj-lt"/>
              <a:buAutoNum type="arabicPeriod"/>
            </a:pPr>
            <a:r>
              <a:rPr lang="en-GB" sz="2000" dirty="0"/>
              <a:t>How did you do it (Methodology used and Programming Tools used)</a:t>
            </a:r>
          </a:p>
          <a:p>
            <a:pPr marL="971550" lvl="1" indent="-514350">
              <a:buFont typeface="+mj-lt"/>
              <a:buAutoNum type="arabicPeriod"/>
            </a:pPr>
            <a:r>
              <a:rPr lang="en-GB" sz="2000" dirty="0"/>
              <a:t>What are the expected results</a:t>
            </a:r>
          </a:p>
          <a:p>
            <a:pPr marL="971550" lvl="1" indent="-514350">
              <a:buNone/>
            </a:pPr>
            <a:r>
              <a:rPr lang="en-GB" sz="2000" u="sng" dirty="0"/>
              <a:t>KEY POINT</a:t>
            </a:r>
          </a:p>
          <a:p>
            <a:pPr marL="971550" lvl="1" indent="-514350">
              <a:buNone/>
            </a:pPr>
            <a:r>
              <a:rPr lang="en-GB" sz="2000" b="1" dirty="0"/>
              <a:t>No line spacing , no paragraph, not more than 250 words  </a:t>
            </a:r>
            <a:r>
              <a:rPr lang="en-GB" sz="2000" u="sng"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000" b="1" dirty="0"/>
              <a:t>CHAPTER ONE</a:t>
            </a:r>
            <a:br>
              <a:rPr lang="en-GB" sz="2000" b="1" dirty="0"/>
            </a:br>
            <a:r>
              <a:rPr lang="en-GB" sz="2000" b="1" dirty="0"/>
              <a:t>INTRODUCTION</a:t>
            </a:r>
          </a:p>
        </p:txBody>
      </p:sp>
      <p:sp>
        <p:nvSpPr>
          <p:cNvPr id="3" name="Content Placeholder 2"/>
          <p:cNvSpPr>
            <a:spLocks noGrp="1"/>
          </p:cNvSpPr>
          <p:nvPr>
            <p:ph idx="1"/>
          </p:nvPr>
        </p:nvSpPr>
        <p:spPr/>
        <p:txBody>
          <a:bodyPr>
            <a:normAutofit/>
          </a:bodyPr>
          <a:lstStyle/>
          <a:p>
            <a:pPr marL="857250" indent="-857250" algn="just">
              <a:buNone/>
            </a:pPr>
            <a:r>
              <a:rPr lang="en-GB" sz="4000" dirty="0"/>
              <a:t>    </a:t>
            </a:r>
          </a:p>
          <a:p>
            <a:pPr marL="857250" indent="-857250" algn="just">
              <a:buNone/>
            </a:pPr>
            <a:r>
              <a:rPr lang="en-GB" sz="2000" dirty="0"/>
              <a:t>1.1 Background to the Study</a:t>
            </a:r>
          </a:p>
          <a:p>
            <a:pPr marL="857250" indent="-857250" algn="just">
              <a:buNone/>
            </a:pPr>
            <a:r>
              <a:rPr lang="en-GB" sz="2000" dirty="0"/>
              <a:t>1.2 Statement of the Problem</a:t>
            </a:r>
          </a:p>
          <a:p>
            <a:pPr marL="857250" indent="-857250" algn="just">
              <a:buNone/>
            </a:pPr>
            <a:r>
              <a:rPr lang="en-GB" sz="2000" dirty="0"/>
              <a:t>1.3  Aim and Objectives of the study     </a:t>
            </a:r>
          </a:p>
          <a:p>
            <a:pPr marL="857250" indent="-857250" algn="just">
              <a:buNone/>
            </a:pPr>
            <a:r>
              <a:rPr lang="en-GB" sz="2000" dirty="0"/>
              <a:t>1.4 Scope of the study</a:t>
            </a:r>
          </a:p>
          <a:p>
            <a:pPr marL="857250" indent="-857250" algn="just">
              <a:buNone/>
            </a:pPr>
            <a:r>
              <a:rPr lang="en-GB" sz="2000" dirty="0"/>
              <a:t>1.5 Significance of the study</a:t>
            </a:r>
          </a:p>
          <a:p>
            <a:pPr marL="857250" indent="-857250" algn="just">
              <a:buNone/>
            </a:pPr>
            <a:r>
              <a:rPr lang="en-GB" sz="2000" dirty="0"/>
              <a:t>1.6 Limitations of the study </a:t>
            </a:r>
          </a:p>
          <a:p>
            <a:pPr marL="857250" indent="-857250" algn="just">
              <a:buNone/>
            </a:pPr>
            <a:r>
              <a:rPr lang="en-GB" sz="2000" dirty="0"/>
              <a:t>1.7 Definition of terms</a:t>
            </a:r>
          </a:p>
          <a:p>
            <a:endParaRPr lang="en-GB" sz="2400" dirty="0"/>
          </a:p>
          <a:p>
            <a:endParaRPr lang="en-GB" dirty="0"/>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Background to  the Study</a:t>
            </a:r>
            <a:endParaRPr lang="en-GB" sz="2400" b="1"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v"/>
            </a:pPr>
            <a:r>
              <a:rPr lang="en-GB" sz="2000" dirty="0"/>
              <a:t>Introduction of Project topic</a:t>
            </a:r>
          </a:p>
          <a:p>
            <a:pPr marL="0" indent="0" algn="just">
              <a:buNone/>
            </a:pPr>
            <a:r>
              <a:rPr lang="en-GB" sz="2000" dirty="0"/>
              <a:t>It could be:</a:t>
            </a:r>
          </a:p>
          <a:p>
            <a:pPr algn="just">
              <a:buFont typeface="Wingdings" panose="05000000000000000000" pitchFamily="2" charset="2"/>
              <a:buChar char="v"/>
            </a:pPr>
            <a:r>
              <a:rPr lang="en-GB" sz="2000" dirty="0"/>
              <a:t>Advent in nature</a:t>
            </a:r>
          </a:p>
          <a:p>
            <a:pPr algn="just">
              <a:buFont typeface="Wingdings" panose="05000000000000000000" pitchFamily="2" charset="2"/>
              <a:buChar char="v"/>
            </a:pPr>
            <a:r>
              <a:rPr lang="en-GB" sz="2000" dirty="0"/>
              <a:t>Expository but must be cited (Referenced) accordingly using APA Format</a:t>
            </a:r>
          </a:p>
          <a:p>
            <a:pPr algn="just">
              <a:buFont typeface="Wingdings" panose="05000000000000000000" pitchFamily="2" charset="2"/>
              <a:buChar char="v"/>
            </a:pPr>
            <a:r>
              <a:rPr lang="en-GB" sz="2000" dirty="0"/>
              <a:t>etc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0831" y="332656"/>
            <a:ext cx="8229600" cy="810344"/>
          </a:xfrm>
        </p:spPr>
        <p:txBody>
          <a:bodyPr>
            <a:normAutofit/>
          </a:bodyPr>
          <a:lstStyle/>
          <a:p>
            <a:r>
              <a:rPr lang="en-GB" sz="2400" dirty="0"/>
              <a:t>Statement of the Problem</a:t>
            </a:r>
          </a:p>
        </p:txBody>
      </p:sp>
      <p:sp>
        <p:nvSpPr>
          <p:cNvPr id="3" name="Content Placeholder 2"/>
          <p:cNvSpPr>
            <a:spLocks noGrp="1"/>
          </p:cNvSpPr>
          <p:nvPr>
            <p:ph idx="1"/>
          </p:nvPr>
        </p:nvSpPr>
        <p:spPr>
          <a:xfrm>
            <a:off x="457200" y="2132856"/>
            <a:ext cx="8229600" cy="4032448"/>
          </a:xfrm>
        </p:spPr>
        <p:txBody>
          <a:bodyPr>
            <a:normAutofit/>
          </a:bodyPr>
          <a:lstStyle/>
          <a:p>
            <a:pPr algn="just">
              <a:buFont typeface="Wingdings" panose="05000000000000000000" pitchFamily="2" charset="2"/>
              <a:buChar char="ü"/>
            </a:pPr>
            <a:endParaRPr lang="en-GB" sz="2000" dirty="0" smtClean="0"/>
          </a:p>
          <a:p>
            <a:pPr algn="just">
              <a:buFont typeface="Wingdings" panose="05000000000000000000" pitchFamily="2" charset="2"/>
              <a:buChar char="ü"/>
            </a:pPr>
            <a:endParaRPr lang="en-GB" sz="2000" dirty="0"/>
          </a:p>
          <a:p>
            <a:pPr algn="just">
              <a:buFont typeface="Wingdings" panose="05000000000000000000" pitchFamily="2" charset="2"/>
              <a:buChar char="ü"/>
            </a:pPr>
            <a:r>
              <a:rPr lang="en-GB" sz="2000" dirty="0" smtClean="0"/>
              <a:t>This </a:t>
            </a:r>
            <a:r>
              <a:rPr lang="en-GB" sz="2000" dirty="0"/>
              <a:t>aspect emphasised the issue at hand as it relate to the research topic.</a:t>
            </a:r>
          </a:p>
          <a:p>
            <a:pPr algn="just">
              <a:buFont typeface="Wingdings" panose="05000000000000000000" pitchFamily="2" charset="2"/>
              <a:buChar char="ü"/>
            </a:pPr>
            <a:r>
              <a:rPr lang="en-GB" sz="2000" dirty="0"/>
              <a:t>Drawback as expressed by reviewed literatures</a:t>
            </a:r>
          </a:p>
          <a:p>
            <a:pPr algn="just">
              <a:buFont typeface="Wingdings" panose="05000000000000000000" pitchFamily="2" charset="2"/>
              <a:buChar char="ü"/>
            </a:pPr>
            <a:r>
              <a:rPr lang="en-GB" sz="2000" dirty="0"/>
              <a:t>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Aim and Objectives of the study</a:t>
            </a:r>
          </a:p>
        </p:txBody>
      </p:sp>
      <p:sp>
        <p:nvSpPr>
          <p:cNvPr id="3" name="Content Placeholder 2"/>
          <p:cNvSpPr>
            <a:spLocks noGrp="1"/>
          </p:cNvSpPr>
          <p:nvPr>
            <p:ph idx="1"/>
          </p:nvPr>
        </p:nvSpPr>
        <p:spPr/>
        <p:txBody>
          <a:bodyPr/>
          <a:lstStyle/>
          <a:p>
            <a:pPr algn="just">
              <a:buFont typeface="Wingdings" panose="05000000000000000000" pitchFamily="2" charset="2"/>
              <a:buChar char="q"/>
            </a:pPr>
            <a:r>
              <a:rPr lang="en-GB" sz="2000" dirty="0"/>
              <a:t>Usually your aim is tied to your topic which should reflect your goal</a:t>
            </a:r>
          </a:p>
          <a:p>
            <a:pPr algn="just">
              <a:buFont typeface="Wingdings" panose="05000000000000000000" pitchFamily="2" charset="2"/>
              <a:buChar char="q"/>
            </a:pPr>
            <a:r>
              <a:rPr lang="en-GB" sz="2000" dirty="0"/>
              <a:t>Objectives is the roadmap to getting to the goal. It should be minimum four.  The objectives must be implementable using terms such as Design, Develop, Implement and Evaluate. However, this solely depend on the structural tendency of the research layout</a:t>
            </a:r>
            <a:r>
              <a:rPr lang="en-GB"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Scope of the study</a:t>
            </a: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GB" sz="2000" dirty="0"/>
              <a:t>The scope of a study refers to the extent or range of the research area that will  be investigated. It defines what will be covered and what will not be covered in the study</a:t>
            </a:r>
            <a:r>
              <a:rPr lang="en-GB"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29600" cy="1143000"/>
          </a:xfrm>
        </p:spPr>
        <p:txBody>
          <a:bodyPr>
            <a:normAutofit/>
          </a:bodyPr>
          <a:lstStyle/>
          <a:p>
            <a:r>
              <a:rPr lang="en-GB" sz="2400" dirty="0"/>
              <a:t>Significance of the study</a:t>
            </a:r>
          </a:p>
        </p:txBody>
      </p:sp>
      <p:sp>
        <p:nvSpPr>
          <p:cNvPr id="3" name="Content Placeholder 2"/>
          <p:cNvSpPr>
            <a:spLocks noGrp="1"/>
          </p:cNvSpPr>
          <p:nvPr>
            <p:ph idx="1"/>
          </p:nvPr>
        </p:nvSpPr>
        <p:spPr/>
        <p:txBody>
          <a:bodyPr>
            <a:normAutofit/>
          </a:bodyPr>
          <a:lstStyle/>
          <a:p>
            <a:pPr marL="0" indent="0" algn="just">
              <a:buNone/>
            </a:pPr>
            <a:r>
              <a:rPr lang="en-GB" sz="2000" dirty="0"/>
              <a:t>Research Projects are designed to solve  </a:t>
            </a:r>
            <a:r>
              <a:rPr lang="en-GB" sz="2000" dirty="0" smtClean="0"/>
              <a:t>problem. The </a:t>
            </a:r>
            <a:r>
              <a:rPr lang="en-GB" sz="2000" dirty="0"/>
              <a:t>important of such project to the sector is what is classified as the significance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Limitations of the study</a:t>
            </a:r>
          </a:p>
        </p:txBody>
      </p:sp>
      <p:sp>
        <p:nvSpPr>
          <p:cNvPr id="3" name="Content Placeholder 2"/>
          <p:cNvSpPr>
            <a:spLocks noGrp="1"/>
          </p:cNvSpPr>
          <p:nvPr>
            <p:ph idx="1"/>
          </p:nvPr>
        </p:nvSpPr>
        <p:spPr/>
        <p:txBody>
          <a:bodyPr>
            <a:normAutofit/>
          </a:bodyPr>
          <a:lstStyle/>
          <a:p>
            <a:pPr marL="0" indent="0" algn="just">
              <a:buNone/>
            </a:pPr>
            <a:r>
              <a:rPr lang="en-GB" sz="2000" dirty="0"/>
              <a:t>In the course of any research work there are bound to be some challenges. These challenges could be pre-planed, above your control. However, they are expected to be listed and explained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GB" sz="2400" b="1" dirty="0"/>
              <a:t>CHAPTER TWO</a:t>
            </a:r>
            <a:br>
              <a:rPr lang="en-GB" sz="2400" b="1" dirty="0"/>
            </a:br>
            <a:r>
              <a:rPr lang="en-GB" sz="2400" b="1" dirty="0"/>
              <a:t>LITERATURE REVIEW</a:t>
            </a:r>
          </a:p>
        </p:txBody>
      </p:sp>
      <p:sp>
        <p:nvSpPr>
          <p:cNvPr id="3" name="Content Placeholder 2"/>
          <p:cNvSpPr>
            <a:spLocks noGrp="1"/>
          </p:cNvSpPr>
          <p:nvPr>
            <p:ph idx="1"/>
          </p:nvPr>
        </p:nvSpPr>
        <p:spPr>
          <a:xfrm>
            <a:off x="457200" y="1285860"/>
            <a:ext cx="8229600" cy="5214974"/>
          </a:xfrm>
        </p:spPr>
        <p:txBody>
          <a:bodyPr>
            <a:normAutofit/>
          </a:bodyPr>
          <a:lstStyle/>
          <a:p>
            <a:pPr marL="742950" lvl="0" indent="-742950" algn="just">
              <a:buFont typeface="+mj-lt"/>
              <a:buAutoNum type="alphaUcPeriod"/>
            </a:pPr>
            <a:r>
              <a:rPr lang="en-GB" sz="2000" dirty="0"/>
              <a:t>Literature Review: laying  foundation of knowledge for design</a:t>
            </a:r>
          </a:p>
          <a:p>
            <a:pPr marL="742950" indent="-742950" algn="just">
              <a:buFont typeface="+mj-lt"/>
              <a:buAutoNum type="alphaUcPeriod"/>
            </a:pPr>
            <a:r>
              <a:rPr lang="en-GB" sz="2000" dirty="0"/>
              <a:t>We expect you to organize this chapter thus:</a:t>
            </a:r>
          </a:p>
          <a:p>
            <a:pPr lvl="1" algn="just">
              <a:buNone/>
            </a:pPr>
            <a:r>
              <a:rPr lang="en-GB" sz="2000" dirty="0"/>
              <a:t>2.1 Introduction</a:t>
            </a:r>
          </a:p>
          <a:p>
            <a:pPr marL="342900" lvl="1" indent="-342900">
              <a:buFont typeface="Arial" pitchFamily="34" charset="0"/>
              <a:buChar char="•"/>
            </a:pPr>
            <a:r>
              <a:rPr lang="en-GB" sz="2000" dirty="0" smtClean="0"/>
              <a:t>2.2 </a:t>
            </a:r>
            <a:r>
              <a:rPr lang="en-GB" sz="2000" dirty="0"/>
              <a:t>Related Works: </a:t>
            </a:r>
            <a:r>
              <a:rPr lang="en-US" sz="2000" dirty="0"/>
              <a:t>This entails previous empirical studies, projects, or applications closely connected to the current research</a:t>
            </a:r>
            <a:r>
              <a:rPr lang="en-GB" sz="2000" dirty="0"/>
              <a:t>(The gap as identified from the reviewed literature must be stated clearly). Minimum literatures should be 50.</a:t>
            </a:r>
          </a:p>
          <a:p>
            <a:endParaRPr lang="en-GB"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392"/>
            <a:ext cx="8892480" cy="7521699"/>
          </a:xfrm>
        </p:spPr>
        <p:txBody>
          <a:bodyPr>
            <a:noAutofit/>
          </a:bodyPr>
          <a:lstStyle/>
          <a:p>
            <a:pPr lvl="1" algn="just">
              <a:buNone/>
            </a:pPr>
            <a:endParaRPr lang="en-GB" sz="2500" dirty="0" smtClean="0"/>
          </a:p>
          <a:p>
            <a:pPr lvl="1" algn="just">
              <a:buNone/>
            </a:pPr>
            <a:endParaRPr lang="en-GB" sz="2500" dirty="0"/>
          </a:p>
          <a:p>
            <a:pPr lvl="1" algn="just">
              <a:buNone/>
            </a:pPr>
            <a:endParaRPr lang="en-GB" sz="2500" dirty="0"/>
          </a:p>
          <a:p>
            <a:pPr lvl="1" algn="just">
              <a:buNone/>
            </a:pPr>
            <a:r>
              <a:rPr lang="en-GB" sz="2500" dirty="0" smtClean="0"/>
              <a:t>2.3 </a:t>
            </a:r>
            <a:r>
              <a:rPr lang="en-GB" sz="2500" dirty="0"/>
              <a:t>Summary of Related Works: </a:t>
            </a:r>
            <a:r>
              <a:rPr lang="en-US" sz="2500" dirty="0"/>
              <a:t>A summary of previous empirical studies, projects, or applications closely connected to the current research.</a:t>
            </a:r>
            <a:r>
              <a:rPr lang="en-GB" sz="2500" dirty="0"/>
              <a:t>(This should be in tabular form).</a:t>
            </a:r>
          </a:p>
          <a:p>
            <a:endParaRPr lang="en-GB" sz="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noAutofit/>
          </a:bodyPr>
          <a:lstStyle/>
          <a:p>
            <a:r>
              <a:rPr lang="en-GB" sz="2400" b="1" dirty="0"/>
              <a:t>CHAPTER THREE</a:t>
            </a:r>
            <a:br>
              <a:rPr lang="en-GB" sz="2400" b="1" dirty="0"/>
            </a:br>
            <a:r>
              <a:rPr lang="en-GB" sz="2400" b="1" dirty="0"/>
              <a:t>METHODOLOGY</a:t>
            </a:r>
          </a:p>
        </p:txBody>
      </p:sp>
      <p:sp>
        <p:nvSpPr>
          <p:cNvPr id="3" name="Content Placeholder 2"/>
          <p:cNvSpPr>
            <a:spLocks noGrp="1"/>
          </p:cNvSpPr>
          <p:nvPr>
            <p:ph idx="1"/>
          </p:nvPr>
        </p:nvSpPr>
        <p:spPr>
          <a:xfrm>
            <a:off x="457200" y="1259632"/>
            <a:ext cx="8229600" cy="4866531"/>
          </a:xfrm>
        </p:spPr>
        <p:txBody>
          <a:bodyPr>
            <a:normAutofit/>
          </a:bodyPr>
          <a:lstStyle/>
          <a:p>
            <a:pPr marL="0" lvl="0" indent="0">
              <a:buNone/>
            </a:pPr>
            <a:r>
              <a:rPr lang="en-GB" sz="2000" b="1" dirty="0"/>
              <a:t>Depending on the methodology chosen, it encompassed </a:t>
            </a:r>
            <a:r>
              <a:rPr lang="en-GB" sz="2000" b="1" dirty="0">
                <a:solidFill>
                  <a:srgbClr val="7030A0"/>
                </a:solidFill>
              </a:rPr>
              <a:t>Systems Analysis and Design</a:t>
            </a:r>
            <a:r>
              <a:rPr lang="en-GB" sz="2000" b="1" dirty="0"/>
              <a:t>  </a:t>
            </a:r>
          </a:p>
          <a:p>
            <a:pPr marL="514350" lvl="0" indent="-514350" algn="just">
              <a:buNone/>
            </a:pPr>
            <a:r>
              <a:rPr lang="en-GB" sz="2000" dirty="0"/>
              <a:t>3.1  Adopted Methodology (Your methodology must have relevant citations. Also make reference to methods adopted/modified from literature).</a:t>
            </a:r>
          </a:p>
          <a:p>
            <a:pPr marL="514350" lvl="0" indent="-514350" algn="just">
              <a:buNone/>
            </a:pPr>
            <a:r>
              <a:rPr lang="en-GB" sz="2000" dirty="0"/>
              <a:t>3.2 Analysis of the Existing System (The Architectural design or model of the existing system should also be shown </a:t>
            </a:r>
            <a:r>
              <a:rPr lang="en-GB" sz="2000" dirty="0" err="1"/>
              <a:t>e.g</a:t>
            </a:r>
            <a:r>
              <a:rPr lang="en-GB" sz="2000" dirty="0"/>
              <a:t> Figure 3.1)</a:t>
            </a:r>
          </a:p>
          <a:p>
            <a:pPr marL="514350" lvl="0" indent="-514350" algn="just">
              <a:buNone/>
            </a:pPr>
            <a:r>
              <a:rPr lang="en-GB" sz="2000" dirty="0"/>
              <a:t>3.2.1 Limitations or Drawbacks of the Existing System: Identification of the weaknesses of the existing system as seen in the gap identified</a:t>
            </a:r>
          </a:p>
          <a:p>
            <a:pPr marL="514350" lvl="0" indent="-514350" algn="just">
              <a:buNone/>
            </a:pP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000" b="1" dirty="0"/>
              <a:t>CHAPTER THREE</a:t>
            </a:r>
            <a:br>
              <a:rPr lang="en-GB" sz="2000" b="1" dirty="0"/>
            </a:br>
            <a:r>
              <a:rPr lang="en-GB" sz="2000" b="1" dirty="0"/>
              <a:t>METHODOLOGY</a:t>
            </a:r>
            <a:endParaRPr lang="en-GB" sz="2000" dirty="0"/>
          </a:p>
        </p:txBody>
      </p:sp>
      <p:sp>
        <p:nvSpPr>
          <p:cNvPr id="3" name="Content Placeholder 2"/>
          <p:cNvSpPr>
            <a:spLocks noGrp="1"/>
          </p:cNvSpPr>
          <p:nvPr>
            <p:ph idx="1"/>
          </p:nvPr>
        </p:nvSpPr>
        <p:spPr/>
        <p:txBody>
          <a:bodyPr>
            <a:normAutofit/>
          </a:bodyPr>
          <a:lstStyle/>
          <a:p>
            <a:pPr marL="514350" indent="-514350" algn="just">
              <a:buNone/>
            </a:pPr>
            <a:r>
              <a:rPr lang="en-GB" dirty="0"/>
              <a:t> </a:t>
            </a:r>
            <a:r>
              <a:rPr lang="en-GB" sz="2000" dirty="0"/>
              <a:t>3.3 Analysis of the Proposed System</a:t>
            </a:r>
          </a:p>
          <a:p>
            <a:pPr marL="514350" indent="-514350" algn="just">
              <a:buNone/>
            </a:pPr>
            <a:r>
              <a:rPr lang="en-GB" sz="2000" dirty="0"/>
              <a:t>3.3.1 Preliminary Design &gt;&gt; High level model of the proposed system (Architectural View of the proposed system) and Design algorithm </a:t>
            </a:r>
          </a:p>
          <a:p>
            <a:pPr marL="514350" lvl="0" indent="-514350" algn="just">
              <a:buNone/>
            </a:pPr>
            <a:r>
              <a:rPr lang="en-GB" sz="2000" dirty="0"/>
              <a:t>3.3.2 Proposed System Justification &gt;&gt;&gt; Why do you think your proposed solution is superior to the existing solution</a:t>
            </a:r>
          </a:p>
          <a:p>
            <a:pPr marL="514350" lvl="0" indent="-514350" algn="just">
              <a:buNone/>
            </a:pPr>
            <a:r>
              <a:rPr lang="en-GB" sz="2000" dirty="0"/>
              <a:t>3.3.3	 Benefits of the proposed system</a:t>
            </a:r>
          </a:p>
          <a:p>
            <a:pPr marL="514350" lvl="0" indent="-514350" algn="just">
              <a:buNone/>
            </a:pPr>
            <a:endParaRPr lang="en-GB" sz="2000" dirty="0"/>
          </a:p>
        </p:txBody>
      </p:sp>
    </p:spTree>
    <p:extLst>
      <p:ext uri="{BB962C8B-B14F-4D97-AF65-F5344CB8AC3E}">
        <p14:creationId xmlns:p14="http://schemas.microsoft.com/office/powerpoint/2010/main" val="3130869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b="1" dirty="0"/>
              <a:t>CHAPTER THREE</a:t>
            </a:r>
            <a:br>
              <a:rPr lang="en-GB" sz="2400" b="1" dirty="0"/>
            </a:br>
            <a:r>
              <a:rPr lang="en-GB" sz="2400" b="1" dirty="0"/>
              <a:t>METHODOLOGY</a:t>
            </a:r>
            <a:endParaRPr lang="en-GB" sz="2400" dirty="0"/>
          </a:p>
        </p:txBody>
      </p:sp>
      <p:sp>
        <p:nvSpPr>
          <p:cNvPr id="3" name="Content Placeholder 2"/>
          <p:cNvSpPr>
            <a:spLocks noGrp="1"/>
          </p:cNvSpPr>
          <p:nvPr>
            <p:ph idx="1"/>
          </p:nvPr>
        </p:nvSpPr>
        <p:spPr>
          <a:xfrm>
            <a:off x="457200" y="1600200"/>
            <a:ext cx="8229600" cy="5069160"/>
          </a:xfrm>
        </p:spPr>
        <p:txBody>
          <a:bodyPr>
            <a:normAutofit/>
          </a:bodyPr>
          <a:lstStyle/>
          <a:p>
            <a:pPr>
              <a:buNone/>
            </a:pPr>
            <a:r>
              <a:rPr lang="en-GB" sz="2000" dirty="0"/>
              <a:t>3.4	System Design </a:t>
            </a:r>
          </a:p>
          <a:p>
            <a:pPr>
              <a:buNone/>
            </a:pPr>
            <a:r>
              <a:rPr lang="en-GB" sz="2000" dirty="0"/>
              <a:t>3.4.1 Proposed System Modelling (UML ): if inline with the oriented application &gt;&gt; Use Case Diagram, Activity Diagram, Entity Relationship Diagram, Sequence Diagram, Dataflow Diagram etc </a:t>
            </a:r>
          </a:p>
          <a:p>
            <a:pPr>
              <a:buNone/>
            </a:pPr>
            <a:r>
              <a:rPr lang="en-GB" sz="2000" dirty="0"/>
              <a:t>3.5 Database Design (If any)</a:t>
            </a:r>
          </a:p>
          <a:p>
            <a:pPr>
              <a:buNone/>
            </a:pPr>
            <a:r>
              <a:rPr lang="en-GB" sz="2000" dirty="0"/>
              <a:t>3.6 Input/Output Specification</a:t>
            </a:r>
          </a:p>
          <a:p>
            <a:pPr>
              <a:buNone/>
            </a:pPr>
            <a:r>
              <a:rPr lang="en-GB" sz="2000" dirty="0"/>
              <a:t>3.7 Cost Analysis</a:t>
            </a:r>
          </a:p>
          <a:p>
            <a:pPr>
              <a:buNone/>
            </a:pPr>
            <a:endParaRPr lang="en-GB" dirty="0"/>
          </a:p>
          <a:p>
            <a:pPr>
              <a:buNone/>
            </a:pP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229600" cy="1143000"/>
          </a:xfrm>
        </p:spPr>
        <p:txBody>
          <a:bodyPr>
            <a:noAutofit/>
          </a:bodyPr>
          <a:lstStyle/>
          <a:p>
            <a:r>
              <a:rPr lang="en-GB" sz="2400" b="1" dirty="0"/>
              <a:t>CHAPTER FOUR</a:t>
            </a:r>
            <a:br>
              <a:rPr lang="en-GB" sz="2400" b="1" dirty="0"/>
            </a:br>
            <a:r>
              <a:rPr lang="en-GB" sz="2400" b="1" dirty="0"/>
              <a:t>IMPLEMENTATION/DISCUSSION  </a:t>
            </a:r>
          </a:p>
        </p:txBody>
      </p:sp>
      <p:sp>
        <p:nvSpPr>
          <p:cNvPr id="3" name="Content Placeholder 2"/>
          <p:cNvSpPr>
            <a:spLocks noGrp="1"/>
          </p:cNvSpPr>
          <p:nvPr>
            <p:ph idx="1"/>
          </p:nvPr>
        </p:nvSpPr>
        <p:spPr>
          <a:xfrm>
            <a:off x="500034" y="1571612"/>
            <a:ext cx="8229600" cy="4525963"/>
          </a:xfrm>
        </p:spPr>
        <p:txBody>
          <a:bodyPr>
            <a:normAutofit/>
          </a:bodyPr>
          <a:lstStyle/>
          <a:p>
            <a:pPr marL="742950" lvl="0" indent="-742950">
              <a:buNone/>
            </a:pPr>
            <a:r>
              <a:rPr lang="en-GB" sz="2000" dirty="0"/>
              <a:t>4.1  Programming Language of Implementation</a:t>
            </a:r>
          </a:p>
          <a:p>
            <a:pPr marL="0" indent="0">
              <a:buNone/>
            </a:pPr>
            <a:r>
              <a:rPr lang="en-GB" sz="2000" dirty="0"/>
              <a:t>4.1.1 Justification of programming language used</a:t>
            </a:r>
          </a:p>
          <a:p>
            <a:pPr marL="0" indent="0">
              <a:buNone/>
            </a:pPr>
            <a:r>
              <a:rPr lang="en-GB" sz="2000" dirty="0"/>
              <a:t>4.2 System Requirements</a:t>
            </a:r>
          </a:p>
          <a:p>
            <a:pPr marL="0" indent="0">
              <a:buNone/>
            </a:pPr>
            <a:r>
              <a:rPr lang="en-GB" sz="2000" dirty="0"/>
              <a:t>4.2.1 Hardware Requirements</a:t>
            </a:r>
          </a:p>
          <a:p>
            <a:pPr marL="0" indent="0">
              <a:buNone/>
            </a:pPr>
            <a:r>
              <a:rPr lang="en-GB" sz="2000" dirty="0"/>
              <a:t>4.2.2 Software Requirements</a:t>
            </a:r>
          </a:p>
          <a:p>
            <a:pPr marL="0" indent="0">
              <a:buNone/>
            </a:pPr>
            <a:r>
              <a:rPr lang="en-GB" sz="2000" dirty="0"/>
              <a:t>4.3 Implementation Guidelines</a:t>
            </a:r>
          </a:p>
          <a:p>
            <a:pPr marL="0" indent="0">
              <a:buNone/>
            </a:pPr>
            <a:r>
              <a:rPr lang="en-GB" sz="2000" dirty="0"/>
              <a:t>4.4 Results and Discussions: In your discussion of results, back your analysis with facts from literature and compare your findings with recent similar works.</a:t>
            </a:r>
          </a:p>
          <a:p>
            <a:pPr marL="742950" lvl="0" indent="-742950" algn="just">
              <a:buNone/>
            </a:pPr>
            <a:endParaRPr lang="en-GB" sz="2000" dirty="0"/>
          </a:p>
          <a:p>
            <a:pPr marL="742950" lvl="0" indent="-742950" algn="just">
              <a:buNone/>
            </a:pPr>
            <a:endParaRPr lang="en-GB" sz="4000" dirty="0"/>
          </a:p>
          <a:p>
            <a:pPr marL="742950" lvl="0" indent="-742950" algn="just">
              <a:buFont typeface="+mj-lt"/>
              <a:buAutoNum type="alphaLcPeriod"/>
            </a:pPr>
            <a:endParaRPr lang="en-GB" sz="40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296144"/>
          </a:xfrm>
        </p:spPr>
        <p:txBody>
          <a:bodyPr>
            <a:normAutofit fontScale="90000"/>
          </a:bodyPr>
          <a:lstStyle/>
          <a:p>
            <a:r>
              <a:rPr lang="en-GB" b="1" dirty="0"/>
              <a:t/>
            </a:r>
            <a:br>
              <a:rPr lang="en-GB" b="1" dirty="0"/>
            </a:br>
            <a:r>
              <a:rPr lang="en-GB" sz="2700" b="1" dirty="0" smtClean="0"/>
              <a:t>CHAPTER </a:t>
            </a:r>
            <a:r>
              <a:rPr lang="en-GB" sz="2700" b="1" dirty="0"/>
              <a:t>FIVE</a:t>
            </a:r>
            <a:r>
              <a:rPr lang="en-GB" sz="2700" dirty="0"/>
              <a:t/>
            </a:r>
            <a:br>
              <a:rPr lang="en-GB" sz="2700" dirty="0"/>
            </a:br>
            <a:r>
              <a:rPr lang="en-GB" sz="2700" b="1" dirty="0"/>
              <a:t>SUMMARY, CONCLUSION AND RECOMMEDATIONS</a:t>
            </a:r>
            <a:r>
              <a:rPr lang="en-GB" dirty="0"/>
              <a:t/>
            </a:r>
            <a:br>
              <a:rPr lang="en-GB" dirty="0"/>
            </a:br>
            <a:endParaRPr lang="en-GB" dirty="0"/>
          </a:p>
        </p:txBody>
      </p:sp>
      <p:sp>
        <p:nvSpPr>
          <p:cNvPr id="3" name="Content Placeholder 2"/>
          <p:cNvSpPr>
            <a:spLocks noGrp="1"/>
          </p:cNvSpPr>
          <p:nvPr>
            <p:ph idx="1"/>
          </p:nvPr>
        </p:nvSpPr>
        <p:spPr>
          <a:xfrm>
            <a:off x="457200" y="1844824"/>
            <a:ext cx="8229600" cy="4281339"/>
          </a:xfrm>
        </p:spPr>
        <p:txBody>
          <a:bodyPr>
            <a:normAutofit/>
          </a:bodyPr>
          <a:lstStyle/>
          <a:p>
            <a:pPr marL="514350" indent="-514350" algn="just">
              <a:buNone/>
            </a:pPr>
            <a:endParaRPr lang="en-GB" sz="2000" dirty="0" smtClean="0"/>
          </a:p>
          <a:p>
            <a:pPr marL="514350" indent="-514350" algn="just">
              <a:buNone/>
            </a:pPr>
            <a:endParaRPr lang="en-GB" sz="2000" dirty="0"/>
          </a:p>
          <a:p>
            <a:pPr marL="514350" indent="-514350" algn="just">
              <a:buNone/>
            </a:pPr>
            <a:r>
              <a:rPr lang="en-GB" sz="2000" dirty="0" smtClean="0"/>
              <a:t>5.1 </a:t>
            </a:r>
            <a:r>
              <a:rPr lang="en-GB" sz="2000" dirty="0"/>
              <a:t>Summary of Major findings </a:t>
            </a:r>
          </a:p>
          <a:p>
            <a:pPr marL="514350" indent="-514350" algn="just">
              <a:buNone/>
            </a:pPr>
            <a:r>
              <a:rPr lang="en-GB" sz="2000" dirty="0"/>
              <a:t>5.2 Conclusion: putting your Objectives in perspective, </a:t>
            </a:r>
            <a:r>
              <a:rPr lang="en-GB" sz="2000" dirty="0" err="1"/>
              <a:t>i</a:t>
            </a:r>
            <a:r>
              <a:rPr lang="en-GB" sz="2000" dirty="0"/>
              <a:t>. e each objectives as stated in the Chapter One must be accounted for here and how it was eventually solved </a:t>
            </a:r>
          </a:p>
          <a:p>
            <a:pPr marL="514350" indent="-514350" algn="just">
              <a:buNone/>
            </a:pPr>
            <a:r>
              <a:rPr lang="en-GB" sz="2000" dirty="0"/>
              <a:t>5.3 Recommendations: This must begin with your work and there after any other that might aid future findings   </a:t>
            </a:r>
          </a:p>
          <a:p>
            <a:endParaRPr lang="en-GB"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LAST PART OF THE WORK ARRANGEMENT </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GB" sz="2000" dirty="0"/>
              <a:t>References in APA Method and in alphabetical order</a:t>
            </a:r>
          </a:p>
          <a:p>
            <a:pPr algn="just">
              <a:buFont typeface="Wingdings" panose="05000000000000000000" pitchFamily="2" charset="2"/>
              <a:buChar char="ü"/>
            </a:pPr>
            <a:r>
              <a:rPr lang="en-GB" sz="2000" dirty="0"/>
              <a:t>Appendices A: Source codes</a:t>
            </a:r>
          </a:p>
          <a:p>
            <a:pPr algn="just">
              <a:buFont typeface="Wingdings" panose="05000000000000000000" pitchFamily="2" charset="2"/>
              <a:buChar char="ü"/>
            </a:pPr>
            <a:r>
              <a:rPr lang="en-GB" sz="2000" dirty="0"/>
              <a:t>Appendix B: sample </a:t>
            </a:r>
            <a:r>
              <a:rPr lang="en-GB" sz="2000" dirty="0" smtClean="0"/>
              <a:t>outputs</a:t>
            </a:r>
          </a:p>
          <a:p>
            <a:pPr algn="just">
              <a:buFont typeface="Wingdings" panose="05000000000000000000" pitchFamily="2" charset="2"/>
              <a:buChar char="ü"/>
            </a:pPr>
            <a:r>
              <a:rPr lang="en-GB" sz="2000" dirty="0" smtClean="0"/>
              <a:t>Appendix </a:t>
            </a:r>
          </a:p>
          <a:p>
            <a:pPr algn="just">
              <a:buFont typeface="Wingdings" panose="05000000000000000000" pitchFamily="2" charset="2"/>
              <a:buChar char="ü"/>
            </a:pPr>
            <a:endParaRPr lang="en-GB" sz="2000" dirty="0" smtClean="0"/>
          </a:p>
          <a:p>
            <a:pPr marL="457200" lvl="1" indent="0" algn="just">
              <a:buNone/>
            </a:pPr>
            <a:r>
              <a:rPr lang="en-GB" sz="1600" dirty="0" smtClean="0"/>
              <a:t>  </a:t>
            </a:r>
            <a:r>
              <a:rPr lang="en-GB" sz="2000" dirty="0" smtClean="0"/>
              <a:t>C:Datasets(ifused)    									</a:t>
            </a:r>
            <a:br>
              <a:rPr lang="en-GB" sz="2000" dirty="0" smtClean="0"/>
            </a:br>
            <a:endParaRPr lang="en-GB"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REFERENCES</a:t>
            </a:r>
          </a:p>
        </p:txBody>
      </p:sp>
      <p:sp>
        <p:nvSpPr>
          <p:cNvPr id="3" name="Content Placeholder 2"/>
          <p:cNvSpPr>
            <a:spLocks noGrp="1"/>
          </p:cNvSpPr>
          <p:nvPr>
            <p:ph idx="1"/>
          </p:nvPr>
        </p:nvSpPr>
        <p:spPr/>
        <p:txBody>
          <a:bodyPr>
            <a:normAutofit/>
          </a:bodyPr>
          <a:lstStyle/>
          <a:p>
            <a:pPr>
              <a:buNone/>
            </a:pPr>
            <a:r>
              <a:rPr lang="en-GB" sz="2000" dirty="0"/>
              <a:t>APA 6 (American Psychological Association) style </a:t>
            </a:r>
          </a:p>
          <a:p>
            <a:pPr>
              <a:buNone/>
            </a:pPr>
            <a:r>
              <a:rPr lang="en-GB" sz="2000" dirty="0"/>
              <a:t> </a:t>
            </a:r>
          </a:p>
          <a:p>
            <a:pPr>
              <a:buNone/>
            </a:pPr>
            <a:r>
              <a:rPr lang="en-GB" sz="2000" dirty="0"/>
              <a:t>APA is publication or academic Manual often used by scholars. Most academic journals subscribed to this style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000" dirty="0"/>
              <a:t>KEY POINTS</a:t>
            </a:r>
          </a:p>
        </p:txBody>
      </p:sp>
      <p:sp>
        <p:nvSpPr>
          <p:cNvPr id="3" name="Content Placeholder 2"/>
          <p:cNvSpPr>
            <a:spLocks noGrp="1"/>
          </p:cNvSpPr>
          <p:nvPr>
            <p:ph idx="1"/>
          </p:nvPr>
        </p:nvSpPr>
        <p:spPr/>
        <p:txBody>
          <a:bodyPr>
            <a:normAutofit/>
          </a:bodyPr>
          <a:lstStyle/>
          <a:p>
            <a:pPr marL="514350" indent="-514350">
              <a:buFont typeface="+mj-lt"/>
              <a:buAutoNum type="arabicParenR"/>
            </a:pPr>
            <a:r>
              <a:rPr lang="en-GB" sz="2000" dirty="0"/>
              <a:t>LINE SPACING &gt;&gt;&gt;&gt; 2.0 Spacing </a:t>
            </a:r>
          </a:p>
          <a:p>
            <a:pPr marL="514350" indent="-514350">
              <a:buFont typeface="+mj-lt"/>
              <a:buAutoNum type="arabicParenR"/>
            </a:pPr>
            <a:r>
              <a:rPr lang="en-GB" sz="2000" dirty="0"/>
              <a:t>FONT STYLE &gt;&gt;&gt;&gt; Times New Roman</a:t>
            </a:r>
          </a:p>
          <a:p>
            <a:pPr marL="514350" indent="-514350">
              <a:buFont typeface="+mj-lt"/>
              <a:buAutoNum type="arabicParenR"/>
            </a:pPr>
            <a:r>
              <a:rPr lang="en-GB" sz="2000" dirty="0"/>
              <a:t>FONT SIZE &gt;&gt;&gt;&gt; From the beginning (cover) Page to the END (Appendix) 12 </a:t>
            </a:r>
          </a:p>
          <a:p>
            <a:pPr marL="514350" indent="-514350">
              <a:buFont typeface="+mj-lt"/>
              <a:buAutoNum type="arabicParenR"/>
            </a:pPr>
            <a:r>
              <a:rPr lang="en-GB" sz="2000" dirty="0"/>
              <a:t>List of figure and table should be in ascending  order of chapters. E.G, Figure 1.2, 1.3, 2.1, 2.2 etc.  </a:t>
            </a:r>
          </a:p>
          <a:p>
            <a:pPr marL="514350" indent="-514350">
              <a:buFont typeface="+mj-lt"/>
              <a:buAutoNum type="arabicParenR"/>
            </a:pPr>
            <a:r>
              <a:rPr lang="en-GB" sz="2000" dirty="0"/>
              <a:t>Table of contents should not be line dotted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KEY POINTS</a:t>
            </a:r>
          </a:p>
        </p:txBody>
      </p:sp>
      <p:sp>
        <p:nvSpPr>
          <p:cNvPr id="3" name="Content Placeholder 2"/>
          <p:cNvSpPr>
            <a:spLocks noGrp="1"/>
          </p:cNvSpPr>
          <p:nvPr>
            <p:ph idx="1"/>
          </p:nvPr>
        </p:nvSpPr>
        <p:spPr/>
        <p:txBody>
          <a:bodyPr>
            <a:normAutofit/>
          </a:bodyPr>
          <a:lstStyle/>
          <a:p>
            <a:pPr marL="514350" indent="-514350">
              <a:buSzPct val="100000"/>
              <a:buFont typeface="+mj-lt"/>
              <a:buAutoNum type="arabicParenR" startAt="6"/>
            </a:pPr>
            <a:r>
              <a:rPr lang="en-GB" sz="2000" dirty="0"/>
              <a:t>Case study should not appear in the cover page (</a:t>
            </a:r>
            <a:r>
              <a:rPr lang="en-GB" sz="2000" b="1" dirty="0"/>
              <a:t>if need be</a:t>
            </a:r>
            <a:r>
              <a:rPr lang="en-GB" sz="2000" dirty="0"/>
              <a:t>) Because it is well discussed in the body of the work (</a:t>
            </a:r>
            <a:r>
              <a:rPr lang="en-GB" sz="2000" dirty="0">
                <a:solidFill>
                  <a:srgbClr val="FF0000"/>
                </a:solidFill>
              </a:rPr>
              <a:t>all project work do have case study which is the present system. So, there is no such need to reflect it in the cover page if need be </a:t>
            </a:r>
            <a:r>
              <a:rPr lang="en-GB" sz="2000" dirty="0"/>
              <a:t>)</a:t>
            </a:r>
          </a:p>
          <a:p>
            <a:pPr marL="514350" indent="-514350">
              <a:buSzPct val="100000"/>
              <a:buFont typeface="+mj-lt"/>
              <a:buAutoNum type="arabicParenR" startAt="6"/>
            </a:pPr>
            <a:r>
              <a:rPr lang="en-GB" sz="2000" dirty="0"/>
              <a:t>Every table and figure must be briefly discussed  with the figure referred to  </a:t>
            </a:r>
          </a:p>
          <a:p>
            <a:endParaRPr lang="en-GB"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380" y="97755"/>
            <a:ext cx="8229600" cy="634082"/>
          </a:xfrm>
        </p:spPr>
        <p:txBody>
          <a:bodyPr>
            <a:normAutofit/>
          </a:bodyPr>
          <a:lstStyle/>
          <a:p>
            <a:r>
              <a:rPr lang="en-GB" sz="2400" dirty="0"/>
              <a:t>KEY POINTS</a:t>
            </a:r>
          </a:p>
        </p:txBody>
      </p:sp>
      <p:sp>
        <p:nvSpPr>
          <p:cNvPr id="3" name="Content Placeholder 2"/>
          <p:cNvSpPr>
            <a:spLocks noGrp="1"/>
          </p:cNvSpPr>
          <p:nvPr>
            <p:ph idx="1"/>
          </p:nvPr>
        </p:nvSpPr>
        <p:spPr>
          <a:xfrm>
            <a:off x="457200" y="908720"/>
            <a:ext cx="8229600" cy="5217443"/>
          </a:xfrm>
        </p:spPr>
        <p:txBody>
          <a:bodyPr/>
          <a:lstStyle/>
          <a:p>
            <a:pPr marL="514350" indent="-514350" algn="just">
              <a:buSzPct val="100000"/>
              <a:buFont typeface="+mj-lt"/>
              <a:buAutoNum type="arabicParenR" startAt="6"/>
            </a:pPr>
            <a:r>
              <a:rPr lang="en-GB" sz="2000" dirty="0"/>
              <a:t>Table name appears on top (but must be at the table centre). All tables must be in scientific format where all gridlines are removed except for the titled row.</a:t>
            </a:r>
          </a:p>
          <a:p>
            <a:pPr marL="514350" indent="-514350" algn="just">
              <a:buSzPct val="100000"/>
              <a:buFont typeface="+mj-lt"/>
              <a:buAutoNum type="arabicParenR" startAt="6"/>
            </a:pPr>
            <a:r>
              <a:rPr lang="en-GB" sz="2000" dirty="0"/>
              <a:t>Figure name appears at the left hand side of the diagram </a:t>
            </a:r>
          </a:p>
          <a:p>
            <a:pPr marL="514350" indent="-514350" algn="just">
              <a:buSzPct val="100000"/>
              <a:buFont typeface="+mj-lt"/>
              <a:buAutoNum type="arabicParenR" startAt="6"/>
            </a:pPr>
            <a:r>
              <a:rPr lang="en-GB" sz="2000" dirty="0"/>
              <a:t>Let your references be within 10 years if need be </a:t>
            </a:r>
            <a:r>
              <a:rPr lang="en-GB" sz="2000" dirty="0" err="1"/>
              <a:t>i.e</a:t>
            </a:r>
            <a:r>
              <a:rPr lang="en-GB" sz="2000" dirty="0"/>
              <a:t> from 2015 till date but in a case of history and theories, no option. </a:t>
            </a:r>
          </a:p>
          <a:p>
            <a:pPr marL="0" indent="0">
              <a:buNone/>
            </a:pPr>
            <a:endParaRPr lang="en-GB" dirty="0"/>
          </a:p>
        </p:txBody>
      </p:sp>
    </p:spTree>
    <p:extLst>
      <p:ext uri="{BB962C8B-B14F-4D97-AF65-F5344CB8AC3E}">
        <p14:creationId xmlns:p14="http://schemas.microsoft.com/office/powerpoint/2010/main" val="2252725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OTHER KEY POINTS</a:t>
            </a:r>
          </a:p>
        </p:txBody>
      </p:sp>
      <p:sp>
        <p:nvSpPr>
          <p:cNvPr id="3" name="Content Placeholder 2"/>
          <p:cNvSpPr>
            <a:spLocks noGrp="1"/>
          </p:cNvSpPr>
          <p:nvPr>
            <p:ph idx="1"/>
          </p:nvPr>
        </p:nvSpPr>
        <p:spPr/>
        <p:txBody>
          <a:bodyPr>
            <a:normAutofit/>
          </a:bodyPr>
          <a:lstStyle/>
          <a:p>
            <a:pPr marL="0" indent="0" algn="just">
              <a:buNone/>
            </a:pPr>
            <a:r>
              <a:rPr lang="en-GB" sz="2000" dirty="0"/>
              <a:t>If the research in question is not a designed based work. Interest must be given to the survey analysis in </a:t>
            </a:r>
            <a:r>
              <a:rPr lang="en-GB" sz="2000" b="1" dirty="0"/>
              <a:t>CHAPTER 3</a:t>
            </a:r>
            <a:r>
              <a:rPr lang="en-GB" sz="2000" dirty="0"/>
              <a:t> and the sub-heading will be </a:t>
            </a:r>
            <a:r>
              <a:rPr lang="en-GB" sz="2000" b="1" dirty="0"/>
              <a:t>“ANALYSIS”</a:t>
            </a:r>
            <a:r>
              <a:rPr lang="en-GB" sz="2000" dirty="0"/>
              <a:t> only. For </a:t>
            </a:r>
            <a:r>
              <a:rPr lang="en-GB" sz="2000" b="1" dirty="0"/>
              <a:t>CHAPTER 4,</a:t>
            </a:r>
            <a:r>
              <a:rPr lang="en-GB" sz="2000" dirty="0"/>
              <a:t> It will be </a:t>
            </a:r>
            <a:r>
              <a:rPr lang="en-GB" sz="2000" b="1" dirty="0"/>
              <a:t>“DISCUSSION”</a:t>
            </a:r>
            <a:r>
              <a:rPr lang="en-GB" sz="2000" dirty="0"/>
              <a:t> only. Attention must be given to full data proposition (Hypothesis) revalidation in </a:t>
            </a:r>
            <a:r>
              <a:rPr lang="en-GB" sz="2000" b="1" dirty="0"/>
              <a:t>chapter three</a:t>
            </a:r>
            <a:r>
              <a:rPr lang="en-GB" sz="2000" dirty="0"/>
              <a:t> and the solution fully discussed in </a:t>
            </a:r>
            <a:r>
              <a:rPr lang="en-GB" sz="2000" b="1" dirty="0"/>
              <a:t>Chapter four</a:t>
            </a:r>
            <a:r>
              <a:rPr lang="en-GB" sz="2000" dirty="0"/>
              <a:t> </a:t>
            </a:r>
          </a:p>
        </p:txBody>
      </p:sp>
    </p:spTree>
    <p:extLst>
      <p:ext uri="{BB962C8B-B14F-4D97-AF65-F5344CB8AC3E}">
        <p14:creationId xmlns:p14="http://schemas.microsoft.com/office/powerpoint/2010/main" val="3929507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274638"/>
            <a:ext cx="8186766" cy="5869006"/>
          </a:xfrm>
        </p:spPr>
        <p:txBody>
          <a:bodyPr>
            <a:noAutofit/>
          </a:bodyPr>
          <a:lstStyle/>
          <a:p>
            <a:r>
              <a:rPr lang="en-GB" sz="11500" b="1" dirty="0">
                <a:effectLst>
                  <a:outerShdw blurRad="38100" dist="38100" dir="2700000" algn="tl">
                    <a:srgbClr val="000000">
                      <a:alpha val="43137"/>
                    </a:srgbClr>
                  </a:outerShdw>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1281</TotalTime>
  <Words>1215</Words>
  <Application>Microsoft Office PowerPoint</Application>
  <PresentationFormat>On-screen Show (4:3)</PresentationFormat>
  <Paragraphs>160</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PROJECT GUIDE</vt:lpstr>
      <vt:lpstr>CHOICE OF TOPIC</vt:lpstr>
      <vt:lpstr>TEMPLATE FOR WRITING RESEARCH PROJECT (UNDERGRADUATE)</vt:lpstr>
      <vt:lpstr>PRELIMINARY PAGES </vt:lpstr>
      <vt:lpstr>COVER PAGE</vt:lpstr>
      <vt:lpstr>TITLE PAGE</vt:lpstr>
      <vt:lpstr>ABSTRACT</vt:lpstr>
      <vt:lpstr>CHAPTER ONE INTRODUCTION</vt:lpstr>
      <vt:lpstr>Background to  the Study</vt:lpstr>
      <vt:lpstr>Statement of the Problem</vt:lpstr>
      <vt:lpstr>Aim and Objectives of the study</vt:lpstr>
      <vt:lpstr>Scope of the study</vt:lpstr>
      <vt:lpstr>Significance of the study</vt:lpstr>
      <vt:lpstr>Limitations of the study</vt:lpstr>
      <vt:lpstr>CHAPTER TWO LITERATURE REVIEW</vt:lpstr>
      <vt:lpstr>PowerPoint Presentation</vt:lpstr>
      <vt:lpstr>CHAPTER THREE METHODOLOGY</vt:lpstr>
      <vt:lpstr>CHAPTER THREE METHODOLOGY</vt:lpstr>
      <vt:lpstr>CHAPTER THREE METHODOLOGY</vt:lpstr>
      <vt:lpstr>CHAPTER FOUR IMPLEMENTATION/DISCUSSION  </vt:lpstr>
      <vt:lpstr> CHAPTER FIVE SUMMARY, CONCLUSION AND RECOMMEDATIONS </vt:lpstr>
      <vt:lpstr>LAST PART OF THE WORK ARRANGEMENT </vt:lpstr>
      <vt:lpstr>REFERENCES</vt:lpstr>
      <vt:lpstr>KEY POINTS</vt:lpstr>
      <vt:lpstr>KEY POINTS</vt:lpstr>
      <vt:lpstr>KEY POINTS</vt:lpstr>
      <vt:lpstr>OTHER KEY POINTS</vt:lpstr>
      <vt:lpstr>THANK YOU!</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Maxwell S. U. Osagie Ph.D.</dc:title>
  <dc:creator>SCALEMAX</dc:creator>
  <cp:lastModifiedBy>USER</cp:lastModifiedBy>
  <cp:revision>73</cp:revision>
  <dcterms:created xsi:type="dcterms:W3CDTF">2018-11-07T01:33:55Z</dcterms:created>
  <dcterms:modified xsi:type="dcterms:W3CDTF">2026-01-08T06:31:43Z</dcterms:modified>
</cp:coreProperties>
</file>